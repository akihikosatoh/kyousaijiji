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5528"/>
            <a:ext cx="12191695" cy="4572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サイト遷移図 ─ 全体マップ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188720"/>
            <a:ext cx="2834640" cy="822960"/>
          </a:xfrm>
          <a:prstGeom prst="roundRect">
            <a:avLst/>
          </a:prstGeom>
          <a:solidFill>
            <a:srgbClr val="0C2461"/>
          </a:solidFill>
          <a:ln w="19050"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🏠 教採ナビ トップ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index.html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3108960" cy="1005840"/>
          </a:xfrm>
          <a:prstGeom prst="roundRect">
            <a:avLst/>
          </a:prstGeom>
          <a:solidFill>
            <a:srgbClr val="2196F3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📖 教職教養を学習する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kyoshoku.html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(5コンテンツ)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017520"/>
            <a:ext cx="3108960" cy="100584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📋 教採関連情報を見る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joho.html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(4コンテンツ)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017520"/>
            <a:ext cx="3108960" cy="1005840"/>
          </a:xfrm>
          <a:prstGeom prst="roundRect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📰 教育ニュースを見る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news.html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(準備中)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94560" y="2011680"/>
            <a:ext cx="3886200" cy="1005840"/>
          </a:xfrm>
          <a:prstGeom prst="line">
            <a:avLst/>
          </a:prstGeom>
          <a:ln w="1905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35040" y="2011680"/>
            <a:ext cx="45720" cy="1005840"/>
          </a:xfrm>
          <a:prstGeom prst="line">
            <a:avLst/>
          </a:prstGeom>
          <a:ln w="1905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2011680"/>
            <a:ext cx="3794760" cy="1005840"/>
          </a:xfrm>
          <a:prstGeom prst="line">
            <a:avLst/>
          </a:prstGeom>
          <a:ln w="1905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4297680"/>
            <a:ext cx="3108960" cy="109728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クイズで演習 / 実践力養成演習 /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過去問演習 / 用語解説 /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教育法規スコープ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4023360"/>
            <a:ext cx="0" cy="274320"/>
          </a:xfrm>
          <a:prstGeom prst="line">
            <a:avLst/>
          </a:prstGeom>
          <a:ln w="19050">
            <a:solidFill>
              <a:srgbClr val="2196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80560" y="4297680"/>
            <a:ext cx="3108960" cy="109728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教員採用試験とは？ /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受験までの年間スケジュール /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試験別の対策法 / 自治体DB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4023360"/>
            <a:ext cx="0" cy="274320"/>
          </a:xfrm>
          <a:prstGeom prst="line">
            <a:avLst/>
          </a:prstGeom>
          <a:ln w="19050">
            <a:solidFill>
              <a:srgbClr val="16A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21040" y="4297680"/>
            <a:ext cx="3108960" cy="109728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707070"/>
                </a:solidFill>
                <a:latin typeface="Meiryo"/>
              </a:rPr>
              <a:t>(コンテンツ準備中)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20" y="4023360"/>
            <a:ext cx="0" cy="274320"/>
          </a:xfrm>
          <a:prstGeom prst="line">
            <a:avLst/>
          </a:prstGeom>
          <a:ln w="19050">
            <a:solidFill>
              <a:srgbClr val="E67E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607040" y="1188720"/>
            <a:ext cx="1371600" cy="822960"/>
          </a:xfrm>
          <a:prstGeom prst="roundRect">
            <a:avLst/>
          </a:prstGeom>
          <a:solidFill>
            <a:srgbClr val="1E3799"/>
          </a:solidFill>
          <a:ln w="19050"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👤 マイページ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mypage.html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</a:rPr>
              <a:t>※全ページの右上 👤 アイコン</a:t>
            </a:r>
          </a:p>
          <a:p>
            <a:pPr algn="l"/>
            <a:r>
              <a:rPr sz="900" b="0">
                <a:solidFill>
                  <a:srgbClr val="707070"/>
                </a:solidFill>
                <a:latin typeface="Meiryo"/>
              </a:rPr>
              <a:t>からアクセス可能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60720"/>
            <a:ext cx="4114800" cy="822960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</a:rPr>
              <a:t>🔧 管理者画面 admin-index.html  →  各管理画面（運営者専用）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943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Meiryo"/>
              </a:rPr>
              <a:t>※運営チームのみ。各コンテンツに対応する管理画面で</a:t>
            </a:r>
          </a:p>
          <a:p>
            <a:pPr algn="l"/>
            <a:r>
              <a:rPr sz="1000" b="0">
                <a:solidFill>
                  <a:srgbClr val="707070"/>
                </a:solidFill>
                <a:latin typeface="Meiryo"/>
              </a:rPr>
              <a:t>本文・問題・画像を登録／編集し、GitHub経由で配信。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5528"/>
            <a:ext cx="12191695" cy="4572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教職教養（5コンテンツ）の遷移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97280"/>
            <a:ext cx="2834640" cy="777240"/>
          </a:xfrm>
          <a:prstGeom prst="roundRect">
            <a:avLst/>
          </a:prstGeom>
          <a:solidFill>
            <a:srgbClr val="2196F3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📖 教職教養 トップ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kyoshoku.html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60320"/>
            <a:ext cx="2194560" cy="960120"/>
          </a:xfrm>
          <a:prstGeom prst="roundRect">
            <a:avLst/>
          </a:prstGeom>
          <a:solidFill>
            <a:srgbClr val="8E44AD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5️⃣ クイズで演習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quiz5-random.html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463040" y="1874519"/>
            <a:ext cx="4617720" cy="685801"/>
          </a:xfrm>
          <a:prstGeom prst="line">
            <a:avLst/>
          </a:prstGeom>
          <a:ln w="1270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97480" y="2560320"/>
            <a:ext cx="2194560" cy="960120"/>
          </a:xfrm>
          <a:prstGeom prst="roundRect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💡 実践力養成演習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mondai.html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794760" y="1874519"/>
            <a:ext cx="2286000" cy="685801"/>
          </a:xfrm>
          <a:prstGeom prst="line">
            <a:avLst/>
          </a:prstGeom>
          <a:ln w="1270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0" y="2560320"/>
            <a:ext cx="2194560" cy="960120"/>
          </a:xfrm>
          <a:prstGeom prst="roundRect">
            <a:avLst/>
          </a:prstGeom>
          <a:solidFill>
            <a:srgbClr val="2196F3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📝 過去問演習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kakomon.html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874519"/>
            <a:ext cx="45720" cy="685801"/>
          </a:xfrm>
          <a:prstGeom prst="line">
            <a:avLst/>
          </a:prstGeom>
          <a:ln w="1270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60920" y="2560320"/>
            <a:ext cx="2194560" cy="96012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📚 用語解説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glossary.html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1874519"/>
            <a:ext cx="2377440" cy="685801"/>
          </a:xfrm>
          <a:prstGeom prst="line">
            <a:avLst/>
          </a:prstGeom>
          <a:ln w="1270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92640" y="2560320"/>
            <a:ext cx="2194560" cy="960120"/>
          </a:xfrm>
          <a:prstGeom prst="roundRect">
            <a:avLst/>
          </a:prstGeom>
          <a:solidFill>
            <a:srgbClr val="8D6E63"/>
          </a:solidFill>
          <a:ln w="19050">
            <a:solidFill>
              <a:srgbClr val="8D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⚖️ 教育法規スコープ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houki-scope.html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1874519"/>
            <a:ext cx="4709159" cy="685801"/>
          </a:xfrm>
          <a:prstGeom prst="line">
            <a:avLst/>
          </a:prstGeom>
          <a:ln w="1270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4023360"/>
            <a:ext cx="2194560" cy="9144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分野・問題数を選択 →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クイズ開始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63040" y="3520440"/>
            <a:ext cx="0" cy="502920"/>
          </a:xfrm>
          <a:prstGeom prst="line">
            <a:avLst/>
          </a:prstGeom>
          <a:ln w="12700">
            <a:solidFill>
              <a:srgbClr val="8E44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691640" y="4023360"/>
            <a:ext cx="2194560" cy="9144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目次に沿って演習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mondai-toc.html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5166360"/>
            <a:ext cx="2194560" cy="9144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ランダム演習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mondai-random.html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788920" y="3520440"/>
            <a:ext cx="1005840" cy="502920"/>
          </a:xfrm>
          <a:prstGeom prst="line">
            <a:avLst/>
          </a:prstGeom>
          <a:ln w="12700">
            <a:solidFill>
              <a:srgbClr val="E67E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788920" y="3520440"/>
            <a:ext cx="1005840" cy="1645920"/>
          </a:xfrm>
          <a:prstGeom prst="line">
            <a:avLst/>
          </a:prstGeom>
          <a:ln w="12700">
            <a:solidFill>
              <a:srgbClr val="E67E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60920" y="4023360"/>
            <a:ext cx="2194560" cy="9144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人名検索 / 事項検索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キーワード検索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58200" y="3520440"/>
            <a:ext cx="0" cy="502920"/>
          </a:xfrm>
          <a:prstGeom prst="line">
            <a:avLst/>
          </a:prstGeom>
          <a:ln w="12700">
            <a:solidFill>
              <a:srgbClr val="16A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92640" y="4023360"/>
            <a:ext cx="2194560" cy="9144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8D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法令名検索 / 用語検索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法令用語を覚える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789920" y="3520440"/>
            <a:ext cx="0" cy="502920"/>
          </a:xfrm>
          <a:prstGeom prst="line">
            <a:avLst/>
          </a:prstGeom>
          <a:ln w="12700">
            <a:solidFill>
              <a:srgbClr val="8D6E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eiryo"/>
              </a:rPr>
              <a:t>共通機能: 解答回数・正答率の記録／メモ・チェック／中断・再開／画像挿入　 ┃ 全ページ右上に 👤 マイページアイコン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5528"/>
            <a:ext cx="12191695" cy="4572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教採関連情報（4コンテンツ）の遷移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97280"/>
            <a:ext cx="2834640" cy="77724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📋 教採関連情報 トップ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joho.html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2743200" cy="105156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🔰 教員採用試験とは？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joho-about.html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011680" y="1874519"/>
            <a:ext cx="4069080" cy="685801"/>
          </a:xfrm>
          <a:prstGeom prst="line">
            <a:avLst/>
          </a:prstGeom>
          <a:ln w="1270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2560320"/>
            <a:ext cx="2743200" cy="105156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📅 年間スケジュール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＆月別Todoリスト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joho-schedule.html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4892040" y="1874519"/>
            <a:ext cx="1188720" cy="685801"/>
          </a:xfrm>
          <a:prstGeom prst="line">
            <a:avLst/>
          </a:prstGeom>
          <a:ln w="1270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2560320"/>
            <a:ext cx="2743200" cy="105156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🎯 試験別の対策法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joho-strategy.html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874519"/>
            <a:ext cx="1691640" cy="685801"/>
          </a:xfrm>
          <a:prstGeom prst="line">
            <a:avLst/>
          </a:prstGeom>
          <a:ln w="1270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81160" y="2560320"/>
            <a:ext cx="2743200" cy="105156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🗾 自治体別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試験情報DB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joho-jichitai.html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1874519"/>
            <a:ext cx="4572000" cy="685801"/>
          </a:xfrm>
          <a:prstGeom prst="line">
            <a:avLst/>
          </a:prstGeom>
          <a:ln w="12700">
            <a:solidFill>
              <a:srgbClr val="0C24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0" y="4023360"/>
            <a:ext cx="2743200" cy="246888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(6タブ切替)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/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● 筆記試験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● 面接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● 論作文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● 集団討論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● 模擬授業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● 場面指導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0" y="3611880"/>
            <a:ext cx="0" cy="411480"/>
          </a:xfrm>
          <a:prstGeom prst="line">
            <a:avLst/>
          </a:prstGeom>
          <a:ln w="12700">
            <a:solidFill>
              <a:srgbClr val="16A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20440" y="4023360"/>
            <a:ext cx="2743200" cy="164592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本文（リッチテキスト）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＋ 画像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＋ ページ内ジャンプ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＋ 外部リンク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3611880"/>
            <a:ext cx="0" cy="411480"/>
          </a:xfrm>
          <a:prstGeom prst="line">
            <a:avLst/>
          </a:prstGeom>
          <a:ln w="12700">
            <a:solidFill>
              <a:srgbClr val="16A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4023360"/>
            <a:ext cx="2743200" cy="164592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本文（リッチテキスト）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＋ 画像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試験の概要・受験資格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Meiryo"/>
              </a:rPr>
              <a:t>合格までの流れ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1680" y="3611880"/>
            <a:ext cx="0" cy="411480"/>
          </a:xfrm>
          <a:prstGeom prst="line">
            <a:avLst/>
          </a:prstGeom>
          <a:ln w="12700">
            <a:solidFill>
              <a:srgbClr val="16A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60" y="4023360"/>
            <a:ext cx="2743200" cy="164592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0">
                <a:solidFill>
                  <a:srgbClr val="707070"/>
                </a:solidFill>
                <a:latin typeface="Meiryo"/>
              </a:rPr>
              <a:t>(準備中)</a:t>
            </a:r>
          </a:p>
          <a:p>
            <a:pPr algn="ctr"/>
            <a:r>
              <a:rPr sz="1000" b="0">
                <a:solidFill>
                  <a:srgbClr val="707070"/>
                </a:solidFill>
                <a:latin typeface="Meiryo"/>
              </a:rPr>
              <a:t>全国の自治体ごとの</a:t>
            </a:r>
          </a:p>
          <a:p>
            <a:pPr algn="ctr"/>
            <a:r>
              <a:rPr sz="1000" b="0">
                <a:solidFill>
                  <a:srgbClr val="707070"/>
                </a:solidFill>
                <a:latin typeface="Meiryo"/>
              </a:rPr>
              <a:t>試験日程・倍率・傾向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52760" y="3611880"/>
            <a:ext cx="0" cy="411480"/>
          </a:xfrm>
          <a:prstGeom prst="line">
            <a:avLst/>
          </a:prstGeom>
          <a:ln w="12700">
            <a:solidFill>
              <a:srgbClr val="16A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Meiryo"/>
              </a:rPr>
              <a:t>本文記法: ***大きい太字*** / **太字** / __下線__ / [テキスト](URL) / {#目印名}＋[テキスト](#目印名) / ![](joho-img/画像)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5528"/>
            <a:ext cx="12191695" cy="4572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管理画面の遷移（運営者専用）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97280"/>
            <a:ext cx="2834640" cy="777240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🔧 管理者画面 ホーム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admin-index.html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468880"/>
            <a:ext cx="2697480" cy="1234440"/>
          </a:xfrm>
          <a:prstGeom prst="roundRect">
            <a:avLst/>
          </a:prstGeom>
          <a:solidFill>
            <a:srgbClr val="8E44AD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5️⃣ クイズで演習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管理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quiz5-admin.html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714500" y="1874519"/>
            <a:ext cx="4366260" cy="594361"/>
          </a:xfrm>
          <a:prstGeom prst="line">
            <a:avLst/>
          </a:prstGeom>
          <a:ln w="9525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0" y="2468880"/>
            <a:ext cx="2697480" cy="1234440"/>
          </a:xfrm>
          <a:prstGeom prst="roundRect">
            <a:avLst/>
          </a:prstGeom>
          <a:solidFill>
            <a:srgbClr val="E67E2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💡 実践力養成演習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管理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mondai-admin.html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4640580" y="1874519"/>
            <a:ext cx="1440180" cy="594361"/>
          </a:xfrm>
          <a:prstGeom prst="line">
            <a:avLst/>
          </a:prstGeom>
          <a:ln w="9525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2468880"/>
            <a:ext cx="2697480" cy="1234440"/>
          </a:xfrm>
          <a:prstGeom prst="roundRect">
            <a:avLst/>
          </a:prstGeom>
          <a:solidFill>
            <a:srgbClr val="2196F3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📝 過去問演習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管理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admin.html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874519"/>
            <a:ext cx="1485900" cy="594361"/>
          </a:xfrm>
          <a:prstGeom prst="line">
            <a:avLst/>
          </a:prstGeom>
          <a:ln w="9525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2468880"/>
            <a:ext cx="2697480" cy="123444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📚 用語解説 管理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glossary-admin.html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1874519"/>
            <a:ext cx="4411980" cy="594361"/>
          </a:xfrm>
          <a:prstGeom prst="line">
            <a:avLst/>
          </a:prstGeom>
          <a:ln w="9525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" y="3886200"/>
            <a:ext cx="2697480" cy="1234440"/>
          </a:xfrm>
          <a:prstGeom prst="roundRect">
            <a:avLst/>
          </a:prstGeom>
          <a:solidFill>
            <a:srgbClr val="8D6E63"/>
          </a:solidFill>
          <a:ln w="19050">
            <a:solidFill>
              <a:srgbClr val="8D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⚖️ 法規スコープ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管理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houki-scope-admin.html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714500" y="1874519"/>
            <a:ext cx="4366260" cy="2011681"/>
          </a:xfrm>
          <a:prstGeom prst="line">
            <a:avLst/>
          </a:prstGeom>
          <a:ln w="9525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91840" y="3886200"/>
            <a:ext cx="2697480" cy="123444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🔰 教員採用試験とは?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管理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joho-about-admin.html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640580" y="1874519"/>
            <a:ext cx="1440180" cy="2011681"/>
          </a:xfrm>
          <a:prstGeom prst="line">
            <a:avLst/>
          </a:prstGeom>
          <a:ln w="9525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3886200"/>
            <a:ext cx="2697480" cy="123444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📅 年間スケジュール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管理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joho-schedule-admin.html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1874519"/>
            <a:ext cx="1485900" cy="2011681"/>
          </a:xfrm>
          <a:prstGeom prst="line">
            <a:avLst/>
          </a:prstGeom>
          <a:ln w="9525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3886200"/>
            <a:ext cx="2697480" cy="123444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🎯 試験別の対策法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管理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eiryo"/>
              </a:rPr>
              <a:t>joho-strategy-admin.html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1874519"/>
            <a:ext cx="4411980" cy="2011681"/>
          </a:xfrm>
          <a:prstGeom prst="line">
            <a:avLst/>
          </a:prstGeom>
          <a:ln w="9525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" y="5486400"/>
            <a:ext cx="11475720" cy="1097280"/>
          </a:xfrm>
          <a:prstGeom prst="roundRect">
            <a:avLst/>
          </a:prstGeom>
          <a:solidFill>
            <a:srgbClr val="FFEB3B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Meiryo"/>
              </a:rPr>
              <a:t>🗂 一括書き出し機能 → 全データ（questions/mondai/quiz5/glossary/houki-scope/joho-about/joho-schedule/joho-strategy）を</a:t>
            </a:r>
          </a:p>
          <a:p>
            <a:pPr algn="ctr"/>
            <a:r>
              <a:rPr sz="1100" b="0">
                <a:solidFill>
                  <a:srgbClr val="2C3E50"/>
                </a:solidFill>
                <a:latin typeface="Meiryo"/>
              </a:rPr>
              <a:t>kyosai-quiz フォルダへ直接保存 → GitHub へ push → 全ユーザーに最新が配信される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